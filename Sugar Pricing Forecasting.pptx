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6"/>
  </p:notesMasterIdLst>
  <p:sldIdLst>
    <p:sldId id="280" r:id="rId5"/>
    <p:sldId id="281" r:id="rId6"/>
    <p:sldId id="282" r:id="rId7"/>
    <p:sldId id="283" r:id="rId8"/>
    <p:sldId id="284" r:id="rId9"/>
    <p:sldId id="285" r:id="rId10"/>
    <p:sldId id="288" r:id="rId11"/>
    <p:sldId id="287" r:id="rId12"/>
    <p:sldId id="292" r:id="rId13"/>
    <p:sldId id="291" r:id="rId14"/>
    <p:sldId id="29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17496C-71A2-47D0-9C0C-746EE9BE863F}" type="datetimeFigureOut">
              <a:rPr lang="en-PH" smtClean="0"/>
              <a:t>04/28/2026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C77DEC-DA87-431B-8159-38081B3391F3}" type="slidenum">
              <a:rPr lang="en-PH" smtClean="0"/>
              <a:t>‹#›</a:t>
            </a:fld>
            <a:endParaRPr lang="en-PH"/>
          </a:p>
        </p:txBody>
      </p:sp>
    </p:spTree>
    <p:extLst>
      <p:ext uri="{BB962C8B-B14F-4D97-AF65-F5344CB8AC3E}">
        <p14:creationId xmlns:p14="http://schemas.microsoft.com/office/powerpoint/2010/main" val="3438241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FC77DEC-DA87-431B-8159-38081B3391F3}" type="slidenum">
              <a:rPr lang="en-PH" smtClean="0"/>
              <a:t>3</a:t>
            </a:fld>
            <a:endParaRPr lang="en-PH"/>
          </a:p>
        </p:txBody>
      </p:sp>
    </p:spTree>
    <p:extLst>
      <p:ext uri="{BB962C8B-B14F-4D97-AF65-F5344CB8AC3E}">
        <p14:creationId xmlns:p14="http://schemas.microsoft.com/office/powerpoint/2010/main" val="1772249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4/28/2026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4/28/2026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4/28/2026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4/28/2026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montecarlosugarapp.streamlit.app/" TargetMode="External"/><Relationship Id="rId2" Type="http://schemas.openxmlformats.org/officeDocument/2006/relationships/hyperlink" Target="Sugar_Price_MonteCarlo_Model_MillGate_v2%20-%20Copy.xlsx"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1356" cy="6858000"/>
          </a:xfrm>
          <a:prstGeom prst="rect">
            <a:avLst/>
          </a:prstGeom>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b="1" dirty="0"/>
              <a:t>Sugar Pricing Forecasting</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712144" cy="1026544"/>
          </a:xfrm>
        </p:spPr>
        <p:txBody>
          <a:bodyPr>
            <a:normAutofit/>
          </a:bodyPr>
          <a:lstStyle/>
          <a:p>
            <a:pPr algn="l"/>
            <a:r>
              <a:rPr lang="en-US" sz="2300" b="1" dirty="0">
                <a:solidFill>
                  <a:srgbClr val="5792BA"/>
                </a:solidFill>
              </a:rPr>
              <a:t>A Monte Carlo Simulation </a:t>
            </a:r>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F205-E8A9-4237-8AD2-ABD9BF694F3E}"/>
              </a:ext>
            </a:extLst>
          </p:cNvPr>
          <p:cNvSpPr>
            <a:spLocks noGrp="1"/>
          </p:cNvSpPr>
          <p:nvPr>
            <p:ph type="title"/>
          </p:nvPr>
        </p:nvSpPr>
        <p:spPr>
          <a:xfrm>
            <a:off x="919119" y="315468"/>
            <a:ext cx="10353762" cy="982980"/>
          </a:xfrm>
        </p:spPr>
        <p:txBody>
          <a:bodyPr>
            <a:normAutofit/>
          </a:bodyPr>
          <a:lstStyle/>
          <a:p>
            <a:r>
              <a:rPr lang="en-US" dirty="0"/>
              <a:t>Objectives</a:t>
            </a:r>
          </a:p>
        </p:txBody>
      </p:sp>
      <p:sp>
        <p:nvSpPr>
          <p:cNvPr id="4" name="Content Placeholder 3">
            <a:extLst>
              <a:ext uri="{FF2B5EF4-FFF2-40B4-BE49-F238E27FC236}">
                <a16:creationId xmlns:a16="http://schemas.microsoft.com/office/drawing/2014/main" id="{40858416-6D73-1E62-2900-F661DC7CA723}"/>
              </a:ext>
            </a:extLst>
          </p:cNvPr>
          <p:cNvSpPr>
            <a:spLocks noGrp="1"/>
          </p:cNvSpPr>
          <p:nvPr>
            <p:ph idx="1"/>
          </p:nvPr>
        </p:nvSpPr>
        <p:spPr>
          <a:xfrm>
            <a:off x="367284" y="1115568"/>
            <a:ext cx="11457431" cy="5559552"/>
          </a:xfrm>
        </p:spPr>
        <p:txBody>
          <a:bodyPr>
            <a:noAutofit/>
          </a:bodyPr>
          <a:lstStyle/>
          <a:p>
            <a:pPr marL="36900" indent="0" algn="just">
              <a:buNone/>
            </a:pPr>
            <a:endParaRPr lang="en-US" sz="1800" dirty="0"/>
          </a:p>
          <a:p>
            <a:pPr algn="just"/>
            <a:r>
              <a:rPr lang="en-US" sz="1800" dirty="0"/>
              <a:t>Explain the challenge of sugar price uncertainty and how market volatility affects company planning and revenue projections.</a:t>
            </a:r>
          </a:p>
          <a:p>
            <a:pPr algn="just"/>
            <a:endParaRPr lang="en-US" sz="1800" dirty="0"/>
          </a:p>
          <a:p>
            <a:pPr algn="just"/>
            <a:r>
              <a:rPr lang="en-US" sz="1800" dirty="0"/>
              <a:t>Introduce the concept of simulation-based analysis using Monte Carlo Simulation to evaluate possible future price scenarios.</a:t>
            </a:r>
          </a:p>
          <a:p>
            <a:pPr algn="just"/>
            <a:endParaRPr lang="en-US" sz="1800" dirty="0"/>
          </a:p>
          <a:p>
            <a:pPr algn="just"/>
            <a:r>
              <a:rPr lang="en-US" sz="1800" dirty="0"/>
              <a:t>Demonstrate the sugar price simulation tool developed using Monte Carlo Simulation in Excel or Web App for running simulations efficiently.</a:t>
            </a:r>
          </a:p>
          <a:p>
            <a:pPr algn="just"/>
            <a:endParaRPr lang="en-US" sz="1800" dirty="0"/>
          </a:p>
          <a:p>
            <a:pPr algn="just"/>
            <a:r>
              <a:rPr lang="en-US" sz="1800" dirty="0"/>
              <a:t>Show how simulation results can support decision-making, particularly in pricing strategy, inventory management, and financial planning.</a:t>
            </a:r>
          </a:p>
          <a:p>
            <a:pPr algn="just"/>
            <a:endParaRPr lang="en-US" sz="1800" dirty="0"/>
          </a:p>
          <a:p>
            <a:pPr algn="just"/>
            <a:r>
              <a:rPr lang="en-US" sz="1800" dirty="0"/>
              <a:t>Promote data-driven discussion and risk awareness in evaluating future sugar market conditions.</a:t>
            </a:r>
          </a:p>
          <a:p>
            <a:pPr algn="just"/>
            <a:endParaRPr lang="en-PH" sz="1800" dirty="0"/>
          </a:p>
        </p:txBody>
      </p:sp>
    </p:spTree>
    <p:extLst>
      <p:ext uri="{BB962C8B-B14F-4D97-AF65-F5344CB8AC3E}">
        <p14:creationId xmlns:p14="http://schemas.microsoft.com/office/powerpoint/2010/main" val="326507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465B-DEE9-9C4D-451F-9F91C6E443A0}"/>
              </a:ext>
            </a:extLst>
          </p:cNvPr>
          <p:cNvSpPr>
            <a:spLocks noGrp="1"/>
          </p:cNvSpPr>
          <p:nvPr>
            <p:ph type="title"/>
          </p:nvPr>
        </p:nvSpPr>
        <p:spPr/>
        <p:txBody>
          <a:bodyPr/>
          <a:lstStyle/>
          <a:p>
            <a:r>
              <a:rPr lang="en-US" dirty="0"/>
              <a:t>Challenges of Sugar Price Uncertainty</a:t>
            </a:r>
            <a:endParaRPr lang="en-PH" dirty="0"/>
          </a:p>
        </p:txBody>
      </p:sp>
      <p:sp>
        <p:nvSpPr>
          <p:cNvPr id="3" name="Content Placeholder 2">
            <a:extLst>
              <a:ext uri="{FF2B5EF4-FFF2-40B4-BE49-F238E27FC236}">
                <a16:creationId xmlns:a16="http://schemas.microsoft.com/office/drawing/2014/main" id="{E8130942-FF0C-CCE9-6371-2C32B695DDA6}"/>
              </a:ext>
            </a:extLst>
          </p:cNvPr>
          <p:cNvSpPr>
            <a:spLocks noGrp="1"/>
          </p:cNvSpPr>
          <p:nvPr>
            <p:ph idx="1"/>
          </p:nvPr>
        </p:nvSpPr>
        <p:spPr>
          <a:xfrm>
            <a:off x="686699" y="1760220"/>
            <a:ext cx="10353762" cy="538734"/>
          </a:xfrm>
        </p:spPr>
        <p:txBody>
          <a:bodyPr/>
          <a:lstStyle/>
          <a:p>
            <a:r>
              <a:rPr lang="en-US" dirty="0"/>
              <a:t>Sugar prices are highly volatile</a:t>
            </a:r>
            <a:endParaRPr lang="en-PH" dirty="0"/>
          </a:p>
        </p:txBody>
      </p:sp>
      <p:sp>
        <p:nvSpPr>
          <p:cNvPr id="4" name="Content Placeholder 2">
            <a:extLst>
              <a:ext uri="{FF2B5EF4-FFF2-40B4-BE49-F238E27FC236}">
                <a16:creationId xmlns:a16="http://schemas.microsoft.com/office/drawing/2014/main" id="{1DFEEA32-D0CA-2F44-4AF5-CD2B73215D96}"/>
              </a:ext>
            </a:extLst>
          </p:cNvPr>
          <p:cNvSpPr txBox="1">
            <a:spLocks/>
          </p:cNvSpPr>
          <p:nvPr/>
        </p:nvSpPr>
        <p:spPr>
          <a:xfrm>
            <a:off x="650123" y="2380298"/>
            <a:ext cx="10353762" cy="53873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Future prices cannot be known with certainty</a:t>
            </a:r>
            <a:endParaRPr lang="en-PH" b="1" dirty="0"/>
          </a:p>
        </p:txBody>
      </p:sp>
      <p:sp>
        <p:nvSpPr>
          <p:cNvPr id="5" name="Content Placeholder 2">
            <a:extLst>
              <a:ext uri="{FF2B5EF4-FFF2-40B4-BE49-F238E27FC236}">
                <a16:creationId xmlns:a16="http://schemas.microsoft.com/office/drawing/2014/main" id="{D12231BF-7577-756F-0C5A-431BB9D26542}"/>
              </a:ext>
            </a:extLst>
          </p:cNvPr>
          <p:cNvSpPr txBox="1">
            <a:spLocks/>
          </p:cNvSpPr>
          <p:nvPr/>
        </p:nvSpPr>
        <p:spPr>
          <a:xfrm>
            <a:off x="650123" y="3554730"/>
            <a:ext cx="10353762" cy="53873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Relying on a single price forecast creates risk</a:t>
            </a:r>
            <a:endParaRPr lang="en-PH" b="1" dirty="0"/>
          </a:p>
        </p:txBody>
      </p:sp>
      <p:sp>
        <p:nvSpPr>
          <p:cNvPr id="6" name="Content Placeholder 2">
            <a:extLst>
              <a:ext uri="{FF2B5EF4-FFF2-40B4-BE49-F238E27FC236}">
                <a16:creationId xmlns:a16="http://schemas.microsoft.com/office/drawing/2014/main" id="{208E90E8-3053-E4CE-5487-244FEC702FD3}"/>
              </a:ext>
            </a:extLst>
          </p:cNvPr>
          <p:cNvSpPr txBox="1">
            <a:spLocks/>
          </p:cNvSpPr>
          <p:nvPr/>
        </p:nvSpPr>
        <p:spPr>
          <a:xfrm>
            <a:off x="650123" y="2967514"/>
            <a:ext cx="10353762" cy="53873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Operational and financial decisions must be made in advance</a:t>
            </a:r>
            <a:endParaRPr lang="en-PH" b="1" dirty="0"/>
          </a:p>
        </p:txBody>
      </p:sp>
      <p:sp>
        <p:nvSpPr>
          <p:cNvPr id="7" name="Content Placeholder 2">
            <a:extLst>
              <a:ext uri="{FF2B5EF4-FFF2-40B4-BE49-F238E27FC236}">
                <a16:creationId xmlns:a16="http://schemas.microsoft.com/office/drawing/2014/main" id="{448FED04-4FCB-F86C-56BE-15E1838DFCCE}"/>
              </a:ext>
            </a:extLst>
          </p:cNvPr>
          <p:cNvSpPr txBox="1">
            <a:spLocks/>
          </p:cNvSpPr>
          <p:nvPr/>
        </p:nvSpPr>
        <p:spPr>
          <a:xfrm>
            <a:off x="650123" y="4093464"/>
            <a:ext cx="10353762" cy="53873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Price uncertainty affects business planning</a:t>
            </a:r>
            <a:endParaRPr lang="en-PH" b="1" dirty="0"/>
          </a:p>
        </p:txBody>
      </p:sp>
      <p:sp>
        <p:nvSpPr>
          <p:cNvPr id="8" name="Content Placeholder 2">
            <a:extLst>
              <a:ext uri="{FF2B5EF4-FFF2-40B4-BE49-F238E27FC236}">
                <a16:creationId xmlns:a16="http://schemas.microsoft.com/office/drawing/2014/main" id="{158F8DC2-481B-C4B8-23A2-773538F5C0EE}"/>
              </a:ext>
            </a:extLst>
          </p:cNvPr>
          <p:cNvSpPr txBox="1">
            <a:spLocks/>
          </p:cNvSpPr>
          <p:nvPr/>
        </p:nvSpPr>
        <p:spPr>
          <a:xfrm>
            <a:off x="650123" y="4632198"/>
            <a:ext cx="10353762" cy="53873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A better approach is to evaluate multiple possible price outcomes</a:t>
            </a:r>
            <a:endParaRPr lang="en-PH" b="1" dirty="0"/>
          </a:p>
        </p:txBody>
      </p:sp>
    </p:spTree>
    <p:extLst>
      <p:ext uri="{BB962C8B-B14F-4D97-AF65-F5344CB8AC3E}">
        <p14:creationId xmlns:p14="http://schemas.microsoft.com/office/powerpoint/2010/main" val="398886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F9C1F-1AAE-E0C0-662A-3F519933C59D}"/>
              </a:ext>
            </a:extLst>
          </p:cNvPr>
          <p:cNvSpPr>
            <a:spLocks noGrp="1"/>
          </p:cNvSpPr>
          <p:nvPr>
            <p:ph type="title"/>
          </p:nvPr>
        </p:nvSpPr>
        <p:spPr/>
        <p:txBody>
          <a:bodyPr/>
          <a:lstStyle/>
          <a:p>
            <a:r>
              <a:rPr lang="en-PH" dirty="0"/>
              <a:t>Monte Carlo Simulation </a:t>
            </a:r>
          </a:p>
        </p:txBody>
      </p:sp>
      <p:sp>
        <p:nvSpPr>
          <p:cNvPr id="3" name="Content Placeholder 2">
            <a:extLst>
              <a:ext uri="{FF2B5EF4-FFF2-40B4-BE49-F238E27FC236}">
                <a16:creationId xmlns:a16="http://schemas.microsoft.com/office/drawing/2014/main" id="{C9F5B6CE-186E-ED08-D3DC-2C1DE2513FAB}"/>
              </a:ext>
            </a:extLst>
          </p:cNvPr>
          <p:cNvSpPr>
            <a:spLocks noGrp="1"/>
          </p:cNvSpPr>
          <p:nvPr>
            <p:ph idx="1"/>
          </p:nvPr>
        </p:nvSpPr>
        <p:spPr/>
        <p:txBody>
          <a:bodyPr/>
          <a:lstStyle/>
          <a:p>
            <a:r>
              <a:rPr lang="en-PH" dirty="0"/>
              <a:t>Definition:</a:t>
            </a:r>
          </a:p>
          <a:p>
            <a:pPr marL="36900" indent="0">
              <a:buNone/>
            </a:pPr>
            <a:r>
              <a:rPr lang="en-US" dirty="0"/>
              <a:t>A Monte Carlo simulation runs a pricing model thousands of times, each with randomly varied inputs, to produce a </a:t>
            </a:r>
            <a:r>
              <a:rPr lang="en-US" b="1" u="sng" dirty="0"/>
              <a:t>range of probable outcomes </a:t>
            </a:r>
            <a:r>
              <a:rPr lang="en-US" dirty="0"/>
              <a:t>rather than one single prediction — capturing uncertainty that any single forecast would miss.</a:t>
            </a:r>
            <a:endParaRPr lang="en-PH" dirty="0"/>
          </a:p>
        </p:txBody>
      </p:sp>
    </p:spTree>
    <p:extLst>
      <p:ext uri="{BB962C8B-B14F-4D97-AF65-F5344CB8AC3E}">
        <p14:creationId xmlns:p14="http://schemas.microsoft.com/office/powerpoint/2010/main" val="2854464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3CEEF-849C-30C8-E0A0-DEE42975BC64}"/>
              </a:ext>
            </a:extLst>
          </p:cNvPr>
          <p:cNvSpPr>
            <a:spLocks noGrp="1"/>
          </p:cNvSpPr>
          <p:nvPr>
            <p:ph type="title"/>
          </p:nvPr>
        </p:nvSpPr>
        <p:spPr/>
        <p:txBody>
          <a:bodyPr>
            <a:normAutofit fontScale="90000"/>
          </a:bodyPr>
          <a:lstStyle/>
          <a:p>
            <a:r>
              <a:rPr lang="en-PH" dirty="0"/>
              <a:t>Pricing Models in Sugar Pricing Forecast using Monte Carlo</a:t>
            </a:r>
          </a:p>
        </p:txBody>
      </p:sp>
      <p:sp>
        <p:nvSpPr>
          <p:cNvPr id="3" name="Content Placeholder 2">
            <a:extLst>
              <a:ext uri="{FF2B5EF4-FFF2-40B4-BE49-F238E27FC236}">
                <a16:creationId xmlns:a16="http://schemas.microsoft.com/office/drawing/2014/main" id="{DEAAF265-03AB-3DF7-B9F3-2ED21F0A6E93}"/>
              </a:ext>
            </a:extLst>
          </p:cNvPr>
          <p:cNvSpPr>
            <a:spLocks noGrp="1"/>
          </p:cNvSpPr>
          <p:nvPr>
            <p:ph idx="1"/>
          </p:nvPr>
        </p:nvSpPr>
        <p:spPr>
          <a:xfrm>
            <a:off x="913795" y="2076450"/>
            <a:ext cx="10353762" cy="447294"/>
          </a:xfrm>
        </p:spPr>
        <p:txBody>
          <a:bodyPr>
            <a:normAutofit fontScale="92500"/>
          </a:bodyPr>
          <a:lstStyle/>
          <a:p>
            <a:pPr marL="36900" indent="0">
              <a:buNone/>
            </a:pPr>
            <a:r>
              <a:rPr lang="en-US" sz="2400" b="1" dirty="0"/>
              <a:t>1. GBM (Geometric Brownian Motion)</a:t>
            </a:r>
          </a:p>
        </p:txBody>
      </p:sp>
      <p:sp>
        <p:nvSpPr>
          <p:cNvPr id="4" name="Content Placeholder 2">
            <a:extLst>
              <a:ext uri="{FF2B5EF4-FFF2-40B4-BE49-F238E27FC236}">
                <a16:creationId xmlns:a16="http://schemas.microsoft.com/office/drawing/2014/main" id="{F25BB6D3-2C2D-CA41-922D-3DA534A355B8}"/>
              </a:ext>
            </a:extLst>
          </p:cNvPr>
          <p:cNvSpPr txBox="1">
            <a:spLocks/>
          </p:cNvSpPr>
          <p:nvPr/>
        </p:nvSpPr>
        <p:spPr>
          <a:xfrm>
            <a:off x="913795" y="3153061"/>
            <a:ext cx="10353762" cy="966451"/>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2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Each day's price movement is purely random — yesterday's price doesn't "pull" tomorrow's price in any direction. Over time, prices can drift far from where they started, and that drift compounds.</a:t>
            </a:r>
          </a:p>
        </p:txBody>
      </p:sp>
      <p:sp>
        <p:nvSpPr>
          <p:cNvPr id="5" name="Content Placeholder 2">
            <a:extLst>
              <a:ext uri="{FF2B5EF4-FFF2-40B4-BE49-F238E27FC236}">
                <a16:creationId xmlns:a16="http://schemas.microsoft.com/office/drawing/2014/main" id="{E122490B-B29E-E08D-09CF-C70D2B1B3BB2}"/>
              </a:ext>
            </a:extLst>
          </p:cNvPr>
          <p:cNvSpPr txBox="1">
            <a:spLocks/>
          </p:cNvSpPr>
          <p:nvPr/>
        </p:nvSpPr>
        <p:spPr>
          <a:xfrm>
            <a:off x="913795" y="2537841"/>
            <a:ext cx="10353762" cy="447294"/>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sz="2000" dirty="0"/>
              <a:t>Prices wander freely with no memory of where they've been.</a:t>
            </a:r>
          </a:p>
        </p:txBody>
      </p:sp>
      <p:sp>
        <p:nvSpPr>
          <p:cNvPr id="6" name="Content Placeholder 2">
            <a:extLst>
              <a:ext uri="{FF2B5EF4-FFF2-40B4-BE49-F238E27FC236}">
                <a16:creationId xmlns:a16="http://schemas.microsoft.com/office/drawing/2014/main" id="{C98A1FED-529A-DDC3-9B62-1775CD0E794D}"/>
              </a:ext>
            </a:extLst>
          </p:cNvPr>
          <p:cNvSpPr txBox="1">
            <a:spLocks/>
          </p:cNvSpPr>
          <p:nvPr/>
        </p:nvSpPr>
        <p:spPr>
          <a:xfrm>
            <a:off x="817716" y="4287438"/>
            <a:ext cx="10353762" cy="2038350"/>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b="1" i="1" dirty="0"/>
              <a:t>Practical example:</a:t>
            </a:r>
            <a:r>
              <a:rPr lang="en-US" i="1" dirty="0"/>
              <a:t> Think of a drunk person walking down a long hallway. They take random steps left and right, but slowly drift toward one end. They have no reason to return to the middle. The longer they walk, the farther they can end up from where they started.</a:t>
            </a:r>
          </a:p>
        </p:txBody>
      </p:sp>
    </p:spTree>
    <p:extLst>
      <p:ext uri="{BB962C8B-B14F-4D97-AF65-F5344CB8AC3E}">
        <p14:creationId xmlns:p14="http://schemas.microsoft.com/office/powerpoint/2010/main" val="268124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37B1-312B-6C65-549C-3FAB97D19CE1}"/>
              </a:ext>
            </a:extLst>
          </p:cNvPr>
          <p:cNvSpPr>
            <a:spLocks noGrp="1"/>
          </p:cNvSpPr>
          <p:nvPr>
            <p:ph type="title"/>
          </p:nvPr>
        </p:nvSpPr>
        <p:spPr/>
        <p:txBody>
          <a:bodyPr/>
          <a:lstStyle/>
          <a:p>
            <a:r>
              <a:rPr lang="en-PH" dirty="0"/>
              <a:t>GBM (Great Brownian Motion)</a:t>
            </a:r>
          </a:p>
        </p:txBody>
      </p:sp>
      <p:sp>
        <p:nvSpPr>
          <p:cNvPr id="3" name="Content Placeholder 2">
            <a:extLst>
              <a:ext uri="{FF2B5EF4-FFF2-40B4-BE49-F238E27FC236}">
                <a16:creationId xmlns:a16="http://schemas.microsoft.com/office/drawing/2014/main" id="{43A5ED85-DDCE-D66E-E929-1517DC7D7872}"/>
              </a:ext>
            </a:extLst>
          </p:cNvPr>
          <p:cNvSpPr>
            <a:spLocks noGrp="1"/>
          </p:cNvSpPr>
          <p:nvPr>
            <p:ph idx="1"/>
          </p:nvPr>
        </p:nvSpPr>
        <p:spPr>
          <a:xfrm>
            <a:off x="913795" y="2076450"/>
            <a:ext cx="10353762" cy="4004310"/>
          </a:xfrm>
        </p:spPr>
        <p:txBody>
          <a:bodyPr/>
          <a:lstStyle/>
          <a:p>
            <a:r>
              <a:rPr lang="en-US" dirty="0"/>
              <a:t>Best used when you believe sugar prices are driven by long-term trends and external shocks — like oil prices, currency movements, or global demand — where there's no strong reason for prices to "snap back.“</a:t>
            </a:r>
          </a:p>
          <a:p>
            <a:pPr marL="36900" indent="0">
              <a:buNone/>
            </a:pPr>
            <a:endParaRPr lang="en-PH" dirty="0"/>
          </a:p>
        </p:txBody>
      </p:sp>
      <p:pic>
        <p:nvPicPr>
          <p:cNvPr id="7" name="Picture 6">
            <a:extLst>
              <a:ext uri="{FF2B5EF4-FFF2-40B4-BE49-F238E27FC236}">
                <a16:creationId xmlns:a16="http://schemas.microsoft.com/office/drawing/2014/main" id="{CDF6C8BD-C700-E41D-CEBB-805705186E8E}"/>
              </a:ext>
            </a:extLst>
          </p:cNvPr>
          <p:cNvPicPr>
            <a:picLocks noChangeAspect="1"/>
          </p:cNvPicPr>
          <p:nvPr/>
        </p:nvPicPr>
        <p:blipFill>
          <a:blip r:embed="rId2"/>
          <a:stretch>
            <a:fillRect/>
          </a:stretch>
        </p:blipFill>
        <p:spPr>
          <a:xfrm>
            <a:off x="997595" y="3558252"/>
            <a:ext cx="5375773" cy="2815116"/>
          </a:xfrm>
          <a:prstGeom prst="rect">
            <a:avLst/>
          </a:prstGeom>
        </p:spPr>
      </p:pic>
      <p:sp>
        <p:nvSpPr>
          <p:cNvPr id="8" name="Content Placeholder 2">
            <a:extLst>
              <a:ext uri="{FF2B5EF4-FFF2-40B4-BE49-F238E27FC236}">
                <a16:creationId xmlns:a16="http://schemas.microsoft.com/office/drawing/2014/main" id="{EC21F1DE-7271-4C78-0785-F93C5E4FABCF}"/>
              </a:ext>
            </a:extLst>
          </p:cNvPr>
          <p:cNvSpPr txBox="1">
            <a:spLocks/>
          </p:cNvSpPr>
          <p:nvPr/>
        </p:nvSpPr>
        <p:spPr>
          <a:xfrm>
            <a:off x="6720235" y="3678936"/>
            <a:ext cx="5285837" cy="2694432"/>
          </a:xfrm>
          <a:prstGeom prst="rect">
            <a:avLst/>
          </a:prstGeom>
          <a:effectLst>
            <a:outerShdw blurRad="25400" dir="17880000">
              <a:srgbClr val="000000">
                <a:alpha val="46000"/>
              </a:srgbClr>
            </a:outerShdw>
          </a:effectLst>
        </p:spPr>
        <p:txBody>
          <a:bodyPr vert="horz" lIns="91440" tIns="45720" rIns="91440" bIns="45720" rtlCol="0" anchor="t">
            <a:normAutofit fontScale="77500" lnSpcReduction="2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US" dirty="0"/>
              <a:t>where:</a:t>
            </a:r>
          </a:p>
          <a:p>
            <a:r>
              <a:rPr lang="en-US" dirty="0"/>
              <a:t>S=the stock price</a:t>
            </a:r>
          </a:p>
          <a:p>
            <a:r>
              <a:rPr lang="en-US" dirty="0"/>
              <a:t>ΔS=the change in stock price</a:t>
            </a:r>
          </a:p>
          <a:p>
            <a:r>
              <a:rPr lang="en-US" dirty="0"/>
              <a:t>μ=the expected return</a:t>
            </a:r>
          </a:p>
          <a:p>
            <a:r>
              <a:rPr lang="en-US" dirty="0"/>
              <a:t>σ=the standard deviation of returns</a:t>
            </a:r>
          </a:p>
          <a:p>
            <a:r>
              <a:rPr lang="en-US" dirty="0"/>
              <a:t>ϵ=the random variable</a:t>
            </a:r>
          </a:p>
          <a:p>
            <a:r>
              <a:rPr lang="en-US" dirty="0"/>
              <a:t>Δt=the elapsed time period</a:t>
            </a:r>
          </a:p>
          <a:p>
            <a:pPr marL="36900" indent="0">
              <a:buNone/>
            </a:pPr>
            <a:endParaRPr lang="en-US" dirty="0"/>
          </a:p>
        </p:txBody>
      </p:sp>
    </p:spTree>
    <p:extLst>
      <p:ext uri="{BB962C8B-B14F-4D97-AF65-F5344CB8AC3E}">
        <p14:creationId xmlns:p14="http://schemas.microsoft.com/office/powerpoint/2010/main" val="1775773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E202-B1C6-55BC-0DF4-BA7A3EE8B76C}"/>
              </a:ext>
            </a:extLst>
          </p:cNvPr>
          <p:cNvSpPr>
            <a:spLocks noGrp="1"/>
          </p:cNvSpPr>
          <p:nvPr>
            <p:ph type="title"/>
          </p:nvPr>
        </p:nvSpPr>
        <p:spPr/>
        <p:txBody>
          <a:bodyPr>
            <a:normAutofit fontScale="90000"/>
          </a:bodyPr>
          <a:lstStyle/>
          <a:p>
            <a:r>
              <a:rPr lang="en-PH" dirty="0"/>
              <a:t>Pricing Models in Sugar Pricing Forecast using Monte Carlo</a:t>
            </a:r>
          </a:p>
        </p:txBody>
      </p:sp>
      <p:sp>
        <p:nvSpPr>
          <p:cNvPr id="5" name="Content Placeholder 4">
            <a:extLst>
              <a:ext uri="{FF2B5EF4-FFF2-40B4-BE49-F238E27FC236}">
                <a16:creationId xmlns:a16="http://schemas.microsoft.com/office/drawing/2014/main" id="{E4A36998-AB9B-08C3-0D41-4DE7C2F0DD40}"/>
              </a:ext>
            </a:extLst>
          </p:cNvPr>
          <p:cNvSpPr>
            <a:spLocks noGrp="1"/>
          </p:cNvSpPr>
          <p:nvPr>
            <p:ph idx="1"/>
          </p:nvPr>
        </p:nvSpPr>
        <p:spPr>
          <a:xfrm>
            <a:off x="913795" y="2689861"/>
            <a:ext cx="10353762" cy="712470"/>
          </a:xfrm>
        </p:spPr>
        <p:txBody>
          <a:bodyPr>
            <a:normAutofit/>
          </a:bodyPr>
          <a:lstStyle/>
          <a:p>
            <a:r>
              <a:rPr lang="en-US" dirty="0"/>
              <a:t>Prices wander, but always get pulled back toward a long-run average.</a:t>
            </a:r>
          </a:p>
          <a:p>
            <a:endParaRPr lang="en-PH" dirty="0"/>
          </a:p>
        </p:txBody>
      </p:sp>
      <p:sp>
        <p:nvSpPr>
          <p:cNvPr id="6" name="Content Placeholder 4">
            <a:extLst>
              <a:ext uri="{FF2B5EF4-FFF2-40B4-BE49-F238E27FC236}">
                <a16:creationId xmlns:a16="http://schemas.microsoft.com/office/drawing/2014/main" id="{BFE640D7-A6C0-DC94-3EA3-FCB1FA6C45F7}"/>
              </a:ext>
            </a:extLst>
          </p:cNvPr>
          <p:cNvSpPr txBox="1">
            <a:spLocks/>
          </p:cNvSpPr>
          <p:nvPr/>
        </p:nvSpPr>
        <p:spPr>
          <a:xfrm>
            <a:off x="846739" y="3455670"/>
            <a:ext cx="10353762" cy="1033652"/>
          </a:xfrm>
          <a:prstGeom prst="rect">
            <a:avLst/>
          </a:prstGeom>
          <a:effectLst>
            <a:outerShdw blurRad="25400" dir="17880000">
              <a:srgbClr val="000000">
                <a:alpha val="46000"/>
              </a:srgbClr>
            </a:outerShdw>
          </a:effectLst>
        </p:spPr>
        <p:txBody>
          <a:bodyPr vert="horz" lIns="91440" tIns="45720" rIns="91440" bIns="45720" rtlCol="0" anchor="t">
            <a:normAutofit fontScale="92500" lnSpcReduction="200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algn="just"/>
            <a:r>
              <a:rPr lang="en-US" dirty="0"/>
              <a:t>When prices go too high, forces push them back down (more farmers plant sugar, buyers switch to substitutes). When prices go too low, the opposite happens. There's a natural gravity toward the historical average.</a:t>
            </a:r>
            <a:endParaRPr lang="en-PH" dirty="0"/>
          </a:p>
        </p:txBody>
      </p:sp>
      <p:sp>
        <p:nvSpPr>
          <p:cNvPr id="7" name="Content Placeholder 4">
            <a:extLst>
              <a:ext uri="{FF2B5EF4-FFF2-40B4-BE49-F238E27FC236}">
                <a16:creationId xmlns:a16="http://schemas.microsoft.com/office/drawing/2014/main" id="{821935D6-2BED-FC67-0B64-787CCADD5FBC}"/>
              </a:ext>
            </a:extLst>
          </p:cNvPr>
          <p:cNvSpPr txBox="1">
            <a:spLocks/>
          </p:cNvSpPr>
          <p:nvPr/>
        </p:nvSpPr>
        <p:spPr>
          <a:xfrm>
            <a:off x="846739" y="4736592"/>
            <a:ext cx="10353762" cy="1874520"/>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n-US" b="1" i="1" dirty="0"/>
              <a:t>Practical example:</a:t>
            </a:r>
            <a:r>
              <a:rPr lang="en-US" i="1" dirty="0"/>
              <a:t> Think of a dog on a leash walking with its owner. The dog can wander left and right, run ahead or fall behind — but the leash always pulls it back toward the owner. The owner is the long-run average price (your θ setting).</a:t>
            </a:r>
            <a:endParaRPr lang="en-PH" i="1" dirty="0"/>
          </a:p>
        </p:txBody>
      </p:sp>
      <p:sp>
        <p:nvSpPr>
          <p:cNvPr id="8" name="Content Placeholder 2">
            <a:extLst>
              <a:ext uri="{FF2B5EF4-FFF2-40B4-BE49-F238E27FC236}">
                <a16:creationId xmlns:a16="http://schemas.microsoft.com/office/drawing/2014/main" id="{531D70BE-AFE5-0335-BA1A-B69FE0847AF0}"/>
              </a:ext>
            </a:extLst>
          </p:cNvPr>
          <p:cNvSpPr txBox="1">
            <a:spLocks/>
          </p:cNvSpPr>
          <p:nvPr/>
        </p:nvSpPr>
        <p:spPr>
          <a:xfrm>
            <a:off x="913795" y="2076450"/>
            <a:ext cx="10353762" cy="447294"/>
          </a:xfrm>
          <a:prstGeom prst="rect">
            <a:avLst/>
          </a:prstGeom>
          <a:effectLst>
            <a:outerShdw blurRad="25400" dir="17880000">
              <a:srgbClr val="000000">
                <a:alpha val="46000"/>
              </a:srgbClr>
            </a:outerShdw>
          </a:effectLst>
        </p:spPr>
        <p:txBody>
          <a:bodyPr vert="horz" lIns="91440" tIns="45720" rIns="91440" bIns="45720" rtlCol="0" anchor="t">
            <a:normAutofit fontScale="92500"/>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2400" b="1" dirty="0"/>
              <a:t>2. </a:t>
            </a:r>
            <a:r>
              <a:rPr lang="en-PH" sz="2400" b="1" dirty="0"/>
              <a:t>Mean-Reverting (Ornstein-</a:t>
            </a:r>
            <a:r>
              <a:rPr lang="en-PH" sz="2400" b="1" dirty="0" err="1"/>
              <a:t>Uhlenbeck</a:t>
            </a:r>
            <a:r>
              <a:rPr lang="en-PH" sz="2400" b="1" dirty="0"/>
              <a:t>)</a:t>
            </a:r>
            <a:r>
              <a:rPr lang="en-US" sz="2400" b="1" dirty="0"/>
              <a:t> </a:t>
            </a:r>
          </a:p>
        </p:txBody>
      </p:sp>
    </p:spTree>
    <p:extLst>
      <p:ext uri="{BB962C8B-B14F-4D97-AF65-F5344CB8AC3E}">
        <p14:creationId xmlns:p14="http://schemas.microsoft.com/office/powerpoint/2010/main" val="1024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E6BA-7236-0464-4945-0E9788F5484E}"/>
              </a:ext>
            </a:extLst>
          </p:cNvPr>
          <p:cNvSpPr>
            <a:spLocks noGrp="1"/>
          </p:cNvSpPr>
          <p:nvPr>
            <p:ph type="title"/>
          </p:nvPr>
        </p:nvSpPr>
        <p:spPr/>
        <p:txBody>
          <a:bodyPr/>
          <a:lstStyle/>
          <a:p>
            <a:r>
              <a:rPr lang="en-PH" dirty="0"/>
              <a:t>Mean-Reverting</a:t>
            </a:r>
          </a:p>
        </p:txBody>
      </p:sp>
      <p:sp>
        <p:nvSpPr>
          <p:cNvPr id="11" name="Rectangle 3">
            <a:extLst>
              <a:ext uri="{FF2B5EF4-FFF2-40B4-BE49-F238E27FC236}">
                <a16:creationId xmlns:a16="http://schemas.microsoft.com/office/drawing/2014/main" id="{020D930D-8EA3-0A8E-AF6C-161DAC97DDF0}"/>
              </a:ext>
            </a:extLst>
          </p:cNvPr>
          <p:cNvSpPr>
            <a:spLocks noGrp="1" noChangeArrowheads="1"/>
          </p:cNvSpPr>
          <p:nvPr>
            <p:ph idx="1"/>
          </p:nvPr>
        </p:nvSpPr>
        <p:spPr bwMode="auto">
          <a:xfrm>
            <a:off x="7848600" y="1667114"/>
            <a:ext cx="342960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i="0" u="none" strike="noStrike" cap="none" normalizeH="0" baseline="0" dirty="0">
                <a:ln>
                  <a:noFill/>
                </a:ln>
                <a:solidFill>
                  <a:schemeClr val="tx1"/>
                </a:solidFill>
                <a:effectLst/>
                <a:latin typeface="Arial" panose="020B0604020202020204" pitchFamily="34" charset="0"/>
              </a:rPr>
              <a:t>Where:</a:t>
            </a:r>
          </a:p>
          <a:p>
            <a:pPr marL="0" indent="0" defTabSz="914400" eaLnBrk="0" fontAlgn="base" hangingPunct="0">
              <a:lnSpc>
                <a:spcPct val="100000"/>
              </a:lnSpc>
              <a:spcBef>
                <a:spcPct val="0"/>
              </a:spcBef>
              <a:spcAft>
                <a:spcPct val="0"/>
              </a:spcAft>
              <a:buClrTx/>
              <a:buSzTx/>
              <a:buNone/>
            </a:pPr>
            <a:r>
              <a:rPr kumimoji="0" lang="en-US" altLang="en-US" sz="1400" b="1" i="0" u="none" strike="noStrike" cap="none" normalizeH="0" baseline="0" dirty="0">
                <a:ln>
                  <a:noFill/>
                </a:ln>
                <a:solidFill>
                  <a:srgbClr val="00B0F0"/>
                </a:solidFill>
                <a:effectLst/>
                <a:latin typeface="Arial" panose="020B0604020202020204" pitchFamily="34" charset="0"/>
              </a:rPr>
              <a:t>ln(S_t) </a:t>
            </a:r>
            <a:r>
              <a:rPr kumimoji="0" lang="en-US" altLang="en-US" sz="1400" i="0" u="none" strike="noStrike" cap="none" normalizeH="0" baseline="0" dirty="0">
                <a:ln>
                  <a:noFill/>
                </a:ln>
                <a:solidFill>
                  <a:schemeClr val="tx1"/>
                </a:solidFill>
                <a:effectLst/>
                <a:latin typeface="Arial" panose="020B0604020202020204" pitchFamily="34" charset="0"/>
              </a:rPr>
              <a:t>= the natural log of today's price (this is what actually mean-reverts)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κ (kappa) </a:t>
            </a:r>
            <a:r>
              <a:rPr kumimoji="0" lang="en-US" altLang="en-US" sz="1400" i="0" u="none" strike="noStrike" cap="none" normalizeH="0" baseline="0" dirty="0">
                <a:ln>
                  <a:noFill/>
                </a:ln>
                <a:solidFill>
                  <a:schemeClr val="tx1"/>
                </a:solidFill>
                <a:effectLst/>
                <a:latin typeface="Arial" panose="020B0604020202020204" pitchFamily="34" charset="0"/>
              </a:rPr>
              <a:t>= how strongly prices are pulled back to the average (the leash strength)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θ (theta) </a:t>
            </a:r>
            <a:r>
              <a:rPr kumimoji="0" lang="en-US" altLang="en-US" sz="1400" i="0" u="none" strike="noStrike" cap="none" normalizeH="0" baseline="0" dirty="0">
                <a:ln>
                  <a:noFill/>
                </a:ln>
                <a:solidFill>
                  <a:schemeClr val="tx1"/>
                </a:solidFill>
                <a:effectLst/>
                <a:latin typeface="Arial" panose="020B0604020202020204" pitchFamily="34" charset="0"/>
              </a:rPr>
              <a:t>= the long-run average price the model gravitates toward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θ* </a:t>
            </a:r>
            <a:r>
              <a:rPr kumimoji="0" lang="en-US" altLang="en-US" sz="1400" i="0" u="none" strike="noStrike" cap="none" normalizeH="0" baseline="0" dirty="0">
                <a:ln>
                  <a:noFill/>
                </a:ln>
                <a:solidFill>
                  <a:schemeClr val="tx1"/>
                </a:solidFill>
                <a:effectLst/>
                <a:latin typeface="Arial" panose="020B0604020202020204" pitchFamily="34" charset="0"/>
              </a:rPr>
              <a:t>= the adjusted long-run mean (a small mathematical correction to θ)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σ </a:t>
            </a:r>
            <a:r>
              <a:rPr kumimoji="0" lang="en-US" altLang="en-US" sz="1400" i="0" u="none" strike="noStrike" cap="none" normalizeH="0" baseline="0" dirty="0">
                <a:ln>
                  <a:noFill/>
                </a:ln>
                <a:solidFill>
                  <a:schemeClr val="tx1"/>
                </a:solidFill>
                <a:effectLst/>
                <a:latin typeface="Arial" panose="020B0604020202020204" pitchFamily="34" charset="0"/>
              </a:rPr>
              <a:t>= volatility (same as GBM)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Δt</a:t>
            </a:r>
            <a:r>
              <a:rPr kumimoji="0" lang="en-US" altLang="en-US" sz="1400" i="0" u="none" strike="noStrike" cap="none" normalizeH="0" baseline="0" dirty="0">
                <a:ln>
                  <a:noFill/>
                </a:ln>
                <a:solidFill>
                  <a:schemeClr val="tx1"/>
                </a:solidFill>
                <a:effectLst/>
                <a:latin typeface="Arial" panose="020B0604020202020204" pitchFamily="34" charset="0"/>
              </a:rPr>
              <a:t> = size of one time step (1/12 for monthly steps)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rgbClr val="00B0F0"/>
                </a:solidFill>
                <a:effectLst/>
                <a:latin typeface="Arial" panose="020B0604020202020204" pitchFamily="34" charset="0"/>
              </a:rPr>
              <a:t>Z</a:t>
            </a:r>
            <a:r>
              <a:rPr kumimoji="0" lang="en-US" altLang="en-US" sz="1400" i="0" u="none" strike="noStrike" cap="none" normalizeH="0" baseline="0" dirty="0">
                <a:ln>
                  <a:noFill/>
                </a:ln>
                <a:solidFill>
                  <a:schemeClr val="tx1"/>
                </a:solidFill>
                <a:effectLst/>
                <a:latin typeface="Arial" panose="020B0604020202020204" pitchFamily="34" charset="0"/>
              </a:rPr>
              <a:t> = random shock, drawn fresh at each step </a:t>
            </a:r>
          </a:p>
        </p:txBody>
      </p:sp>
      <p:pic>
        <p:nvPicPr>
          <p:cNvPr id="13" name="Picture 12">
            <a:extLst>
              <a:ext uri="{FF2B5EF4-FFF2-40B4-BE49-F238E27FC236}">
                <a16:creationId xmlns:a16="http://schemas.microsoft.com/office/drawing/2014/main" id="{EBF39EB1-3C86-486F-E6B6-7CC1ED80F7B4}"/>
              </a:ext>
            </a:extLst>
          </p:cNvPr>
          <p:cNvPicPr>
            <a:picLocks noChangeAspect="1"/>
          </p:cNvPicPr>
          <p:nvPr/>
        </p:nvPicPr>
        <p:blipFill>
          <a:blip r:embed="rId2"/>
          <a:stretch>
            <a:fillRect/>
          </a:stretch>
        </p:blipFill>
        <p:spPr>
          <a:xfrm>
            <a:off x="895175" y="1793748"/>
            <a:ext cx="6896452" cy="2037588"/>
          </a:xfrm>
          <a:prstGeom prst="rect">
            <a:avLst/>
          </a:prstGeom>
        </p:spPr>
      </p:pic>
      <p:sp>
        <p:nvSpPr>
          <p:cNvPr id="14" name="Rectangle 3">
            <a:extLst>
              <a:ext uri="{FF2B5EF4-FFF2-40B4-BE49-F238E27FC236}">
                <a16:creationId xmlns:a16="http://schemas.microsoft.com/office/drawing/2014/main" id="{0805F46D-8B2C-B06E-D202-DE1FE2616798}"/>
              </a:ext>
            </a:extLst>
          </p:cNvPr>
          <p:cNvSpPr txBox="1">
            <a:spLocks noChangeArrowheads="1"/>
          </p:cNvSpPr>
          <p:nvPr/>
        </p:nvSpPr>
        <p:spPr bwMode="auto">
          <a:xfrm>
            <a:off x="758952" y="4534651"/>
            <a:ext cx="646480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indent="-342900" defTabSz="914400" eaLnBrk="0" fontAlgn="base" hangingPunct="0">
              <a:lnSpc>
                <a:spcPct val="100000"/>
              </a:lnSpc>
              <a:spcBef>
                <a:spcPct val="0"/>
              </a:spcBef>
              <a:spcAft>
                <a:spcPct val="0"/>
              </a:spcAft>
              <a:buClrTx/>
              <a:buSzTx/>
            </a:pPr>
            <a:r>
              <a:rPr lang="en-US" sz="2400" dirty="0"/>
              <a:t>Best used for mill-gate sugar prices specifically, because agricultural commodity prices tend to behave this way — production and demand naturally correct extreme prices over time</a:t>
            </a:r>
            <a:endParaRPr lang="en-US" altLang="en-US" sz="240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74667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9E98D-D305-1757-B28C-2B272D3F8789}"/>
              </a:ext>
            </a:extLst>
          </p:cNvPr>
          <p:cNvSpPr>
            <a:spLocks noGrp="1"/>
          </p:cNvSpPr>
          <p:nvPr>
            <p:ph type="title"/>
          </p:nvPr>
        </p:nvSpPr>
        <p:spPr>
          <a:xfrm>
            <a:off x="913795" y="609600"/>
            <a:ext cx="10353762" cy="798576"/>
          </a:xfrm>
        </p:spPr>
        <p:txBody>
          <a:bodyPr/>
          <a:lstStyle/>
          <a:p>
            <a:r>
              <a:rPr lang="en-US" b="1" dirty="0"/>
              <a:t>Summary</a:t>
            </a:r>
            <a:endParaRPr lang="en-PH" b="1" dirty="0"/>
          </a:p>
        </p:txBody>
      </p:sp>
      <p:sp>
        <p:nvSpPr>
          <p:cNvPr id="3" name="Content Placeholder 2">
            <a:extLst>
              <a:ext uri="{FF2B5EF4-FFF2-40B4-BE49-F238E27FC236}">
                <a16:creationId xmlns:a16="http://schemas.microsoft.com/office/drawing/2014/main" id="{48726F4A-4AAF-1280-DFC9-D5A05EF849BA}"/>
              </a:ext>
            </a:extLst>
          </p:cNvPr>
          <p:cNvSpPr>
            <a:spLocks noGrp="1"/>
          </p:cNvSpPr>
          <p:nvPr>
            <p:ph idx="1"/>
          </p:nvPr>
        </p:nvSpPr>
        <p:spPr>
          <a:xfrm>
            <a:off x="913795" y="1571625"/>
            <a:ext cx="10353762" cy="4445127"/>
          </a:xfrm>
        </p:spPr>
        <p:txBody>
          <a:bodyPr>
            <a:normAutofit fontScale="92500"/>
          </a:bodyPr>
          <a:lstStyle/>
          <a:p>
            <a:pPr marL="36900" indent="0">
              <a:buNone/>
            </a:pPr>
            <a:r>
              <a:rPr lang="en-US" dirty="0"/>
              <a:t>Sugar Price Monte Carlo Risk Model(Predictive AI Type) is capable to:</a:t>
            </a:r>
          </a:p>
          <a:p>
            <a:pPr marL="494100" indent="-457200">
              <a:buAutoNum type="arabicPeriod"/>
            </a:pPr>
            <a:r>
              <a:rPr lang="en-US" dirty="0"/>
              <a:t>Identify the percentage of potential risk on sugar price based on </a:t>
            </a:r>
            <a:r>
              <a:rPr lang="en-PH" dirty="0">
                <a:effectLst/>
              </a:rPr>
              <a:t>Price Distribution at Horizon(</a:t>
            </a:r>
            <a:r>
              <a:rPr lang="en-US" sz="1800" i="1" dirty="0">
                <a:effectLst/>
              </a:rPr>
              <a:t>"Price Distribution at Horizon" generally refers to how the price of an asset, commodity, or service is distributed or forecasted over a specific future time period (the "horizon"). Depending on the context, this term applies to financial modeling, energy pricing, or supply chain management.” </a:t>
            </a:r>
            <a:r>
              <a:rPr lang="en-PH" dirty="0">
                <a:effectLst/>
              </a:rPr>
              <a:t>)</a:t>
            </a:r>
          </a:p>
          <a:p>
            <a:pPr marL="494100" indent="-457200">
              <a:buFont typeface="Wingdings 2" charset="2"/>
              <a:buAutoNum type="arabicPeriod"/>
            </a:pPr>
            <a:r>
              <a:rPr lang="en-US" dirty="0"/>
              <a:t>Predict the Sugar price in the future</a:t>
            </a:r>
          </a:p>
          <a:p>
            <a:pPr marL="36900" indent="0">
              <a:buNone/>
            </a:pPr>
            <a:endParaRPr lang="en-US" dirty="0">
              <a:solidFill>
                <a:schemeClr val="bg1"/>
              </a:solidFill>
            </a:endParaRPr>
          </a:p>
          <a:p>
            <a:pPr marL="36900" indent="0">
              <a:lnSpc>
                <a:spcPct val="160000"/>
              </a:lnSpc>
              <a:buNone/>
            </a:pPr>
            <a:r>
              <a:rPr lang="en-US" sz="2000" dirty="0">
                <a:solidFill>
                  <a:schemeClr val="bg1"/>
                </a:solidFill>
                <a:effectLst/>
                <a:highlight>
                  <a:srgbClr val="FFFF00"/>
                </a:highlight>
                <a:latin typeface="Arial Nova (Body)"/>
              </a:rPr>
              <a:t>It matters for sugar mills and sugar traders to promote data-driven discussion and risk awareness in evaluating future sugar market conditions and decision-making, particularly in pricing strategy, inventory management, and financial planning. </a:t>
            </a:r>
          </a:p>
        </p:txBody>
      </p:sp>
    </p:spTree>
    <p:extLst>
      <p:ext uri="{BB962C8B-B14F-4D97-AF65-F5344CB8AC3E}">
        <p14:creationId xmlns:p14="http://schemas.microsoft.com/office/powerpoint/2010/main" val="2841035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17B52-C475-17C2-70A5-EF6DEA6D115E}"/>
              </a:ext>
            </a:extLst>
          </p:cNvPr>
          <p:cNvSpPr>
            <a:spLocks noGrp="1"/>
          </p:cNvSpPr>
          <p:nvPr>
            <p:ph type="title"/>
          </p:nvPr>
        </p:nvSpPr>
        <p:spPr/>
        <p:txBody>
          <a:bodyPr/>
          <a:lstStyle/>
          <a:p>
            <a:r>
              <a:rPr lang="en-PH" dirty="0"/>
              <a:t>Conclusions and Recommendations</a:t>
            </a:r>
          </a:p>
        </p:txBody>
      </p:sp>
      <p:graphicFrame>
        <p:nvGraphicFramePr>
          <p:cNvPr id="4" name="Content Placeholder 3">
            <a:extLst>
              <a:ext uri="{FF2B5EF4-FFF2-40B4-BE49-F238E27FC236}">
                <a16:creationId xmlns:a16="http://schemas.microsoft.com/office/drawing/2014/main" id="{F8B144D8-4771-9B56-97C4-74C7DF5870DC}"/>
              </a:ext>
            </a:extLst>
          </p:cNvPr>
          <p:cNvGraphicFramePr>
            <a:graphicFrameLocks noGrp="1"/>
          </p:cNvGraphicFramePr>
          <p:nvPr>
            <p:ph idx="1"/>
            <p:extLst>
              <p:ext uri="{D42A27DB-BD31-4B8C-83A1-F6EECF244321}">
                <p14:modId xmlns:p14="http://schemas.microsoft.com/office/powerpoint/2010/main" val="1791210474"/>
              </p:ext>
            </p:extLst>
          </p:nvPr>
        </p:nvGraphicFramePr>
        <p:xfrm>
          <a:off x="913795" y="1728215"/>
          <a:ext cx="10030692" cy="3262886"/>
        </p:xfrm>
        <a:graphic>
          <a:graphicData uri="http://schemas.openxmlformats.org/drawingml/2006/table">
            <a:tbl>
              <a:tblPr/>
              <a:tblGrid>
                <a:gridCol w="3343564">
                  <a:extLst>
                    <a:ext uri="{9D8B030D-6E8A-4147-A177-3AD203B41FA5}">
                      <a16:colId xmlns:a16="http://schemas.microsoft.com/office/drawing/2014/main" val="2701224752"/>
                    </a:ext>
                  </a:extLst>
                </a:gridCol>
                <a:gridCol w="3343564">
                  <a:extLst>
                    <a:ext uri="{9D8B030D-6E8A-4147-A177-3AD203B41FA5}">
                      <a16:colId xmlns:a16="http://schemas.microsoft.com/office/drawing/2014/main" val="354010643"/>
                    </a:ext>
                  </a:extLst>
                </a:gridCol>
                <a:gridCol w="3343564">
                  <a:extLst>
                    <a:ext uri="{9D8B030D-6E8A-4147-A177-3AD203B41FA5}">
                      <a16:colId xmlns:a16="http://schemas.microsoft.com/office/drawing/2014/main" val="1659945345"/>
                    </a:ext>
                  </a:extLst>
                </a:gridCol>
              </a:tblGrid>
              <a:tr h="501982">
                <a:tc>
                  <a:txBody>
                    <a:bodyPr/>
                    <a:lstStyle/>
                    <a:p>
                      <a:pPr>
                        <a:buNone/>
                      </a:pPr>
                      <a:endParaRPr lang="en-PH"/>
                    </a:p>
                  </a:txBody>
                  <a:tcPr anchor="ctr">
                    <a:lnL>
                      <a:noFill/>
                    </a:lnL>
                    <a:lnR>
                      <a:noFill/>
                    </a:lnR>
                    <a:lnT>
                      <a:noFill/>
                    </a:lnT>
                    <a:lnB>
                      <a:noFill/>
                    </a:lnB>
                    <a:noFill/>
                  </a:tcPr>
                </a:tc>
                <a:tc>
                  <a:txBody>
                    <a:bodyPr/>
                    <a:lstStyle/>
                    <a:p>
                      <a:pPr algn="ctr">
                        <a:buNone/>
                      </a:pPr>
                      <a:r>
                        <a:rPr lang="en-PH" b="1" i="0" dirty="0">
                          <a:solidFill>
                            <a:srgbClr val="00B0F0"/>
                          </a:solidFill>
                        </a:rPr>
                        <a:t>GBM</a:t>
                      </a:r>
                    </a:p>
                  </a:txBody>
                  <a:tcPr anchor="ctr">
                    <a:lnL>
                      <a:noFill/>
                    </a:lnL>
                    <a:lnR>
                      <a:noFill/>
                    </a:lnR>
                    <a:lnT>
                      <a:noFill/>
                    </a:lnT>
                    <a:lnB>
                      <a:noFill/>
                    </a:lnB>
                    <a:noFill/>
                  </a:tcPr>
                </a:tc>
                <a:tc>
                  <a:txBody>
                    <a:bodyPr/>
                    <a:lstStyle/>
                    <a:p>
                      <a:pPr algn="ctr">
                        <a:buNone/>
                      </a:pPr>
                      <a:r>
                        <a:rPr lang="en-PH" b="1" dirty="0">
                          <a:solidFill>
                            <a:srgbClr val="00B0F0"/>
                          </a:solidFill>
                        </a:rPr>
                        <a:t>Mean-Reverting</a:t>
                      </a:r>
                    </a:p>
                  </a:txBody>
                  <a:tcPr anchor="ctr">
                    <a:lnL>
                      <a:noFill/>
                    </a:lnL>
                    <a:lnR>
                      <a:noFill/>
                    </a:lnR>
                    <a:lnT>
                      <a:noFill/>
                    </a:lnT>
                    <a:lnB>
                      <a:noFill/>
                    </a:lnB>
                    <a:noFill/>
                  </a:tcPr>
                </a:tc>
                <a:extLst>
                  <a:ext uri="{0D108BD9-81ED-4DB2-BD59-A6C34878D82A}">
                    <a16:rowId xmlns:a16="http://schemas.microsoft.com/office/drawing/2014/main" val="397468079"/>
                  </a:ext>
                </a:extLst>
              </a:tr>
              <a:tr h="501982">
                <a:tc>
                  <a:txBody>
                    <a:bodyPr/>
                    <a:lstStyle/>
                    <a:p>
                      <a:pPr>
                        <a:buNone/>
                      </a:pPr>
                      <a:r>
                        <a:rPr lang="en-PH"/>
                        <a:t>Short horizon (&lt; 2 yrs)</a:t>
                      </a:r>
                    </a:p>
                  </a:txBody>
                  <a:tcPr anchor="ctr">
                    <a:lnL>
                      <a:noFill/>
                    </a:lnL>
                    <a:lnR>
                      <a:noFill/>
                    </a:lnR>
                    <a:lnT>
                      <a:noFill/>
                    </a:lnT>
                    <a:lnB>
                      <a:noFill/>
                    </a:lnB>
                    <a:noFill/>
                  </a:tcPr>
                </a:tc>
                <a:tc>
                  <a:txBody>
                    <a:bodyPr/>
                    <a:lstStyle/>
                    <a:p>
                      <a:pPr algn="l">
                        <a:buNone/>
                      </a:pPr>
                      <a:r>
                        <a:rPr lang="en-PH" dirty="0"/>
                        <a:t>✅ Fine</a:t>
                      </a:r>
                    </a:p>
                  </a:txBody>
                  <a:tcPr anchor="ctr">
                    <a:lnL>
                      <a:noFill/>
                    </a:lnL>
                    <a:lnR>
                      <a:noFill/>
                    </a:lnR>
                    <a:lnT>
                      <a:noFill/>
                    </a:lnT>
                    <a:lnB>
                      <a:noFill/>
                    </a:lnB>
                    <a:noFill/>
                  </a:tcPr>
                </a:tc>
                <a:tc>
                  <a:txBody>
                    <a:bodyPr/>
                    <a:lstStyle/>
                    <a:p>
                      <a:pPr algn="l">
                        <a:buNone/>
                      </a:pPr>
                      <a:r>
                        <a:rPr lang="en-PH" dirty="0"/>
                        <a:t>✅ Fine</a:t>
                      </a:r>
                    </a:p>
                  </a:txBody>
                  <a:tcPr anchor="ctr">
                    <a:lnL>
                      <a:noFill/>
                    </a:lnL>
                    <a:lnR>
                      <a:noFill/>
                    </a:lnR>
                    <a:lnT>
                      <a:noFill/>
                    </a:lnT>
                    <a:lnB>
                      <a:noFill/>
                    </a:lnB>
                    <a:noFill/>
                  </a:tcPr>
                </a:tc>
                <a:extLst>
                  <a:ext uri="{0D108BD9-81ED-4DB2-BD59-A6C34878D82A}">
                    <a16:rowId xmlns:a16="http://schemas.microsoft.com/office/drawing/2014/main" val="2419418259"/>
                  </a:ext>
                </a:extLst>
              </a:tr>
              <a:tr h="501982">
                <a:tc>
                  <a:txBody>
                    <a:bodyPr/>
                    <a:lstStyle/>
                    <a:p>
                      <a:pPr>
                        <a:buNone/>
                      </a:pPr>
                      <a:r>
                        <a:rPr lang="en-PH"/>
                        <a:t>Long horizon (3–10 yrs)</a:t>
                      </a:r>
                    </a:p>
                  </a:txBody>
                  <a:tcPr anchor="ctr">
                    <a:lnL>
                      <a:noFill/>
                    </a:lnL>
                    <a:lnR>
                      <a:noFill/>
                    </a:lnR>
                    <a:lnT>
                      <a:noFill/>
                    </a:lnT>
                    <a:lnB>
                      <a:noFill/>
                    </a:lnB>
                    <a:noFill/>
                  </a:tcPr>
                </a:tc>
                <a:tc>
                  <a:txBody>
                    <a:bodyPr/>
                    <a:lstStyle/>
                    <a:p>
                      <a:pPr algn="l">
                        <a:buNone/>
                      </a:pPr>
                      <a:r>
                        <a:rPr lang="en-PH" dirty="0"/>
                        <a:t>⚠️ Can drift too far</a:t>
                      </a:r>
                    </a:p>
                  </a:txBody>
                  <a:tcPr anchor="ctr">
                    <a:lnL>
                      <a:noFill/>
                    </a:lnL>
                    <a:lnR>
                      <a:noFill/>
                    </a:lnR>
                    <a:lnT>
                      <a:noFill/>
                    </a:lnT>
                    <a:lnB>
                      <a:noFill/>
                    </a:lnB>
                    <a:noFill/>
                  </a:tcPr>
                </a:tc>
                <a:tc>
                  <a:txBody>
                    <a:bodyPr/>
                    <a:lstStyle/>
                    <a:p>
                      <a:pPr algn="l">
                        <a:buNone/>
                      </a:pPr>
                      <a:r>
                        <a:rPr lang="en-PH" dirty="0"/>
                        <a:t>✅ More realistic</a:t>
                      </a:r>
                    </a:p>
                  </a:txBody>
                  <a:tcPr anchor="ctr">
                    <a:lnL>
                      <a:noFill/>
                    </a:lnL>
                    <a:lnR>
                      <a:noFill/>
                    </a:lnR>
                    <a:lnT>
                      <a:noFill/>
                    </a:lnT>
                    <a:lnB>
                      <a:noFill/>
                    </a:lnB>
                    <a:noFill/>
                  </a:tcPr>
                </a:tc>
                <a:extLst>
                  <a:ext uri="{0D108BD9-81ED-4DB2-BD59-A6C34878D82A}">
                    <a16:rowId xmlns:a16="http://schemas.microsoft.com/office/drawing/2014/main" val="184574122"/>
                  </a:ext>
                </a:extLst>
              </a:tr>
              <a:tr h="878470">
                <a:tc>
                  <a:txBody>
                    <a:bodyPr/>
                    <a:lstStyle/>
                    <a:p>
                      <a:pPr>
                        <a:buNone/>
                      </a:pPr>
                      <a:r>
                        <a:rPr lang="en-US" dirty="0"/>
                        <a:t>You believe prices correct themselves</a:t>
                      </a:r>
                    </a:p>
                  </a:txBody>
                  <a:tcPr anchor="ctr">
                    <a:lnL>
                      <a:noFill/>
                    </a:lnL>
                    <a:lnR>
                      <a:noFill/>
                    </a:lnR>
                    <a:lnT>
                      <a:noFill/>
                    </a:lnT>
                    <a:lnB>
                      <a:noFill/>
                    </a:lnB>
                    <a:noFill/>
                  </a:tcPr>
                </a:tc>
                <a:tc>
                  <a:txBody>
                    <a:bodyPr/>
                    <a:lstStyle/>
                    <a:p>
                      <a:pPr algn="ctr">
                        <a:buNone/>
                      </a:pPr>
                      <a:r>
                        <a:rPr lang="en-PH" dirty="0"/>
                        <a:t>❌</a:t>
                      </a:r>
                    </a:p>
                  </a:txBody>
                  <a:tcPr anchor="ctr">
                    <a:lnL>
                      <a:noFill/>
                    </a:lnL>
                    <a:lnR>
                      <a:noFill/>
                    </a:lnR>
                    <a:lnT>
                      <a:noFill/>
                    </a:lnT>
                    <a:lnB>
                      <a:noFill/>
                    </a:lnB>
                    <a:noFill/>
                  </a:tcPr>
                </a:tc>
                <a:tc>
                  <a:txBody>
                    <a:bodyPr/>
                    <a:lstStyle/>
                    <a:p>
                      <a:pPr algn="ctr">
                        <a:buNone/>
                      </a:pPr>
                      <a:r>
                        <a:rPr lang="en-PH" dirty="0"/>
                        <a:t>✅</a:t>
                      </a:r>
                    </a:p>
                  </a:txBody>
                  <a:tcPr anchor="ctr">
                    <a:lnL>
                      <a:noFill/>
                    </a:lnL>
                    <a:lnR>
                      <a:noFill/>
                    </a:lnR>
                    <a:lnT>
                      <a:noFill/>
                    </a:lnT>
                    <a:lnB>
                      <a:noFill/>
                    </a:lnB>
                    <a:noFill/>
                  </a:tcPr>
                </a:tc>
                <a:extLst>
                  <a:ext uri="{0D108BD9-81ED-4DB2-BD59-A6C34878D82A}">
                    <a16:rowId xmlns:a16="http://schemas.microsoft.com/office/drawing/2014/main" val="2384403170"/>
                  </a:ext>
                </a:extLst>
              </a:tr>
              <a:tr h="878470">
                <a:tc>
                  <a:txBody>
                    <a:bodyPr/>
                    <a:lstStyle/>
                    <a:p>
                      <a:pPr>
                        <a:buNone/>
                      </a:pPr>
                      <a:r>
                        <a:rPr lang="en-US" dirty="0"/>
                        <a:t>You believe prices trend indefinitely</a:t>
                      </a:r>
                    </a:p>
                  </a:txBody>
                  <a:tcPr anchor="ctr">
                    <a:lnL>
                      <a:noFill/>
                    </a:lnL>
                    <a:lnR>
                      <a:noFill/>
                    </a:lnR>
                    <a:lnT>
                      <a:noFill/>
                    </a:lnT>
                    <a:lnB>
                      <a:noFill/>
                    </a:lnB>
                    <a:noFill/>
                  </a:tcPr>
                </a:tc>
                <a:tc>
                  <a:txBody>
                    <a:bodyPr/>
                    <a:lstStyle/>
                    <a:p>
                      <a:pPr algn="ctr">
                        <a:buNone/>
                      </a:pPr>
                      <a:r>
                        <a:rPr lang="en-PH" dirty="0"/>
                        <a:t>✅</a:t>
                      </a:r>
                    </a:p>
                  </a:txBody>
                  <a:tcPr anchor="ctr">
                    <a:lnL>
                      <a:noFill/>
                    </a:lnL>
                    <a:lnR>
                      <a:noFill/>
                    </a:lnR>
                    <a:lnT>
                      <a:noFill/>
                    </a:lnT>
                    <a:lnB>
                      <a:noFill/>
                    </a:lnB>
                    <a:noFill/>
                  </a:tcPr>
                </a:tc>
                <a:tc>
                  <a:txBody>
                    <a:bodyPr/>
                    <a:lstStyle/>
                    <a:p>
                      <a:pPr algn="ctr">
                        <a:buNone/>
                      </a:pPr>
                      <a:r>
                        <a:rPr lang="en-PH" dirty="0"/>
                        <a:t>❌</a:t>
                      </a:r>
                    </a:p>
                  </a:txBody>
                  <a:tcPr anchor="ctr">
                    <a:lnL>
                      <a:noFill/>
                    </a:lnL>
                    <a:lnR>
                      <a:noFill/>
                    </a:lnR>
                    <a:lnT>
                      <a:noFill/>
                    </a:lnT>
                    <a:lnB>
                      <a:noFill/>
                    </a:lnB>
                    <a:noFill/>
                  </a:tcPr>
                </a:tc>
                <a:extLst>
                  <a:ext uri="{0D108BD9-81ED-4DB2-BD59-A6C34878D82A}">
                    <a16:rowId xmlns:a16="http://schemas.microsoft.com/office/drawing/2014/main" val="505010515"/>
                  </a:ext>
                </a:extLst>
              </a:tr>
            </a:tbl>
          </a:graphicData>
        </a:graphic>
      </p:graphicFrame>
      <p:sp>
        <p:nvSpPr>
          <p:cNvPr id="5" name="Rectangle 1">
            <a:extLst>
              <a:ext uri="{FF2B5EF4-FFF2-40B4-BE49-F238E27FC236}">
                <a16:creationId xmlns:a16="http://schemas.microsoft.com/office/drawing/2014/main" id="{246567A1-9B5E-58E4-3151-37B247563B8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Which should you use?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0135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503C4-EFF1-1CFF-AFC6-7B0515E9423F}"/>
              </a:ext>
            </a:extLst>
          </p:cNvPr>
          <p:cNvSpPr>
            <a:spLocks noGrp="1"/>
          </p:cNvSpPr>
          <p:nvPr>
            <p:ph type="title"/>
          </p:nvPr>
        </p:nvSpPr>
        <p:spPr/>
        <p:txBody>
          <a:bodyPr/>
          <a:lstStyle/>
          <a:p>
            <a:r>
              <a:rPr lang="en-PH" dirty="0"/>
              <a:t>Sugar Pricing Monte Carlo Simulation</a:t>
            </a:r>
          </a:p>
        </p:txBody>
      </p:sp>
      <p:sp>
        <p:nvSpPr>
          <p:cNvPr id="3" name="Content Placeholder 2">
            <a:extLst>
              <a:ext uri="{FF2B5EF4-FFF2-40B4-BE49-F238E27FC236}">
                <a16:creationId xmlns:a16="http://schemas.microsoft.com/office/drawing/2014/main" id="{3AE2004F-C317-3B29-1D33-47BC72ED5988}"/>
              </a:ext>
            </a:extLst>
          </p:cNvPr>
          <p:cNvSpPr>
            <a:spLocks noGrp="1"/>
          </p:cNvSpPr>
          <p:nvPr>
            <p:ph idx="1"/>
          </p:nvPr>
        </p:nvSpPr>
        <p:spPr/>
        <p:txBody>
          <a:bodyPr/>
          <a:lstStyle/>
          <a:p>
            <a:r>
              <a:rPr lang="en-PH" dirty="0"/>
              <a:t>Excel File</a:t>
            </a:r>
          </a:p>
          <a:p>
            <a:pPr marL="36900" indent="0">
              <a:buNone/>
            </a:pPr>
            <a:r>
              <a:rPr lang="en-PH" dirty="0">
                <a:hlinkClick r:id="rId2" action="ppaction://hlinkfile"/>
              </a:rPr>
              <a:t>Sugar_Price_MonteCarlo_Model_MillGate_v2 - Copy.xlsx</a:t>
            </a:r>
            <a:endParaRPr lang="en-PH" dirty="0"/>
          </a:p>
          <a:p>
            <a:r>
              <a:rPr lang="en-PH" dirty="0"/>
              <a:t>Web App</a:t>
            </a:r>
          </a:p>
          <a:p>
            <a:pPr marL="36900" indent="0">
              <a:buNone/>
            </a:pPr>
            <a:r>
              <a:rPr lang="en-PH" dirty="0">
                <a:hlinkClick r:id="rId3"/>
              </a:rPr>
              <a:t>https://montecarlosugarapp.streamlit.app</a:t>
            </a:r>
            <a:endParaRPr lang="en-PH" dirty="0"/>
          </a:p>
          <a:p>
            <a:pPr marL="36900" indent="0">
              <a:buNone/>
            </a:pPr>
            <a:endParaRPr lang="en-PH" dirty="0"/>
          </a:p>
        </p:txBody>
      </p:sp>
    </p:spTree>
    <p:extLst>
      <p:ext uri="{BB962C8B-B14F-4D97-AF65-F5344CB8AC3E}">
        <p14:creationId xmlns:p14="http://schemas.microsoft.com/office/powerpoint/2010/main" val="1021094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{0F326088-374B-4D85-845B-34F00439E16A}TF44c8ba04-08d0-4be5-99b0-3ee2a8f0f11401c8fd43_win32-463ac1ec4738</Template>
  <TotalTime>218</TotalTime>
  <Words>853</Words>
  <Application>Microsoft Office PowerPoint</Application>
  <PresentationFormat>Widescreen</PresentationFormat>
  <Paragraphs>80</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Nova</vt:lpstr>
      <vt:lpstr>Arial Nova (Body)</vt:lpstr>
      <vt:lpstr>Arial Nova Light</vt:lpstr>
      <vt:lpstr>Calibri</vt:lpstr>
      <vt:lpstr>Wingdings 2</vt:lpstr>
      <vt:lpstr>SlateVTI</vt:lpstr>
      <vt:lpstr>Sugar Pricing Forecasting</vt:lpstr>
      <vt:lpstr>Objectives</vt:lpstr>
      <vt:lpstr>Challenges of Sugar Price Uncertainty</vt:lpstr>
      <vt:lpstr>Monte Carlo Simulation </vt:lpstr>
      <vt:lpstr>Pricing Models in Sugar Pricing Forecast using Monte Carlo</vt:lpstr>
      <vt:lpstr>GBM (Great Brownian Motion)</vt:lpstr>
      <vt:lpstr>Pricing Models in Sugar Pricing Forecast using Monte Carlo</vt:lpstr>
      <vt:lpstr>Mean-Reverting</vt:lpstr>
      <vt:lpstr>Summary</vt:lpstr>
      <vt:lpstr>Conclusions and Recommendations</vt:lpstr>
      <vt:lpstr>Sugar Pricing Monte Carlo Simulation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Princess Octaviano</dc:creator>
  <cp:lastModifiedBy>Jay T. Castor</cp:lastModifiedBy>
  <cp:revision>13</cp:revision>
  <dcterms:created xsi:type="dcterms:W3CDTF">2026-03-12T13:23:42Z</dcterms:created>
  <dcterms:modified xsi:type="dcterms:W3CDTF">2026-04-28T07:34:33Z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